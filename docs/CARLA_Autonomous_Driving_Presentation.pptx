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CBFB3D-0926-4407-A5D3-F0F27F9E81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A1C9D6-A2F2-4027-BBED-51D2236D06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20910A-888B-42C2-B3D6-29D7E9C9D5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BBDB02-28EB-4CAD-B7AA-3BF67ADB1F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2B374B-32F5-4C1D-B6A9-C793F65E44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71991B-03D8-41B2-8C39-24B7BBF011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DB9BC7-D773-4A0D-986B-5618E8BED1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0885A8-0FD6-40B4-9197-88DD4E0B3D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34B16B-437A-4C79-8664-8E16C05770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A7AAC-F90A-478F-9D48-A9A6287D6C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3AEFFC-8DD3-4EA5-8B56-E1CF9FFDD0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5A7D61-552A-4783-84A9-0D31F6B595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C420A8-AD14-4BC4-A322-E31E0CA1953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ight Triangle 2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ectangle 3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4"/>
          <p:cNvSpPr/>
          <p:nvPr/>
        </p:nvSpPr>
        <p:spPr>
          <a:xfrm>
            <a:off x="457200" y="2286000"/>
            <a:ext cx="11429640" cy="20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Autonomous Driving System in CARLA Simulator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01"/>
              </a:spcBef>
              <a:buNone/>
            </a:pPr>
            <a:r>
              <a:rPr b="0" lang="en-US" sz="2400" spc="-1" strike="noStrike">
                <a:solidFill>
                  <a:srgbClr val="009fd4"/>
                </a:solidFill>
                <a:latin typeface="Calibri"/>
              </a:rPr>
              <a:t>CMPE 789 - Robot Perception Final Project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3948480" y="4572000"/>
            <a:ext cx="44467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Presented by: Justin Mascarenhas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b0b8c4"/>
                </a:solidFill>
                <a:latin typeface="Calibri"/>
              </a:rPr>
              <a:t>December 2025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5"/>
          <p:cNvSpPr/>
          <p:nvPr/>
        </p:nvSpPr>
        <p:spPr>
          <a:xfrm>
            <a:off x="3653640" y="365760"/>
            <a:ext cx="4579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Project Overview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5083200" y="1005840"/>
            <a:ext cx="1720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Introduction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457200" y="1645920"/>
            <a:ext cx="5486040" cy="28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Objective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Develop a fully autonomous driving system in CARLA 0.9.15: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Navigate roads using ultra fast lane detection path planning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Detect and respond to traffic elements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Follow lane markings using deep learning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Make real-time driving decisions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6400800" y="1645920"/>
            <a:ext cx="5486040" cy="39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Key Components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Perception: YOLO + UFLD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Planning: Waypoint navigation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Control: Speed &amp; steering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Technologies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CARLA 0.9.15 Simulator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PyTorch / CUDA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Ultralytics YOLO11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Ultra Fast Lane Detection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2/18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5"/>
          <p:cNvSpPr/>
          <p:nvPr/>
        </p:nvSpPr>
        <p:spPr>
          <a:xfrm>
            <a:off x="3215520" y="365760"/>
            <a:ext cx="5455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System Architecture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4640400" y="1005840"/>
            <a:ext cx="2605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High-Level Pipeline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2" name="TextBox 7"/>
          <p:cNvSpPr/>
          <p:nvPr/>
        </p:nvSpPr>
        <p:spPr>
          <a:xfrm>
            <a:off x="457200" y="1463040"/>
            <a:ext cx="11429640" cy="40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000" spc="-1" strike="noStrike">
                <a:solidFill>
                  <a:srgbClr val="009fd4"/>
                </a:solidFill>
                <a:latin typeface="Calibri"/>
              </a:rPr>
              <a:t>CARLA SIMULATOR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RGB Camera (1640×590) → PERCEPTION MODULE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000" spc="-1" strike="noStrike">
                <a:solidFill>
                  <a:srgbClr val="009fd4"/>
                </a:solidFill>
                <a:latin typeface="Calibri"/>
              </a:rPr>
              <a:t>PERCEPTION MODULE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YOLO11 Custom Object Detection: Vehicles, Pedestrians, Traffic Lights, Speed Signs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UFLD Fine-tuned Lane Detection: Lane boundaries, Center line, Steering angle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000" spc="-1" strike="noStrike">
                <a:solidFill>
                  <a:srgbClr val="009fd4"/>
                </a:solidFill>
                <a:latin typeface="Calibri"/>
              </a:rPr>
              <a:t>DECISION MODULE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Traffic Light Color Detection (HSV Analysis): Red/Yellow → STOP, Green → GO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Speed Control: Max 20 km/h, Turn slowdown, Emergency stop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Steering Control: Max ±70°, Normalized [-1, 1]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3/18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TextBox 5"/>
          <p:cNvSpPr/>
          <p:nvPr/>
        </p:nvSpPr>
        <p:spPr>
          <a:xfrm>
            <a:off x="4171680" y="365760"/>
            <a:ext cx="3543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Methodology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4490280" y="1005840"/>
            <a:ext cx="2905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Step-by-Step Pipeline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0" name="TextBox 7"/>
          <p:cNvSpPr/>
          <p:nvPr/>
        </p:nvSpPr>
        <p:spPr>
          <a:xfrm>
            <a:off x="457200" y="1645920"/>
            <a:ext cx="5486040" cy="45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1. Environment Setup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Synchronous mode for determinism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Fixed delta: 0.3s per tick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Camera: 1640×590, 150° FOV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Position: 1.5m forward, 2.4m height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2. Perception Pipeline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Frame capture from RGB camera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YOLO detection (conf &gt; 0.3)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UFLD lane detection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Coordinate scaling (800×288 → 1640×590)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6400800" y="1645920"/>
            <a:ext cx="548604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3. Decision Making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Traffic light: HSV color detection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Obstacle avoidance: Distance from bbox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Steering: Lane-based vs waypoint-based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4. Control Execution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Apply throttle, steering, brake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Update waypoint tracking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Update spectator camera view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4/18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5"/>
          <p:cNvSpPr/>
          <p:nvPr/>
        </p:nvSpPr>
        <p:spPr>
          <a:xfrm>
            <a:off x="2923560" y="365760"/>
            <a:ext cx="6039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YOLO Object Detection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4323600" y="1005840"/>
            <a:ext cx="3239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Custom YOLO11n Model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457200" y="1645920"/>
            <a:ext cx="5028840" cy="34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Model Architecture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Base: YOLO11n (Nano) - fastest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Input: 640×640 (auto-resized)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Output: BBox + Class + Confidence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Distance Estimation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Pinhole camera model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distance = (real_height × focal) / bbox_height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80" name="Table 8"/>
          <p:cNvGraphicFramePr/>
          <p:nvPr/>
        </p:nvGraphicFramePr>
        <p:xfrm>
          <a:off x="5943600" y="1828800"/>
          <a:ext cx="5486040" cy="18284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Class ID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9fd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Class Name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9fd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9fd4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vehicle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Collision avoidance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pedestrian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Emergency stop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traffic_light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Signal detection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speed_limit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Speed regulation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</a:tbl>
          </a:graphicData>
        </a:graphic>
      </p:graphicFrame>
      <p:sp>
        <p:nvSpPr>
          <p:cNvPr id="81" name="TextBox 9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5/18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5"/>
          <p:cNvSpPr/>
          <p:nvPr/>
        </p:nvSpPr>
        <p:spPr>
          <a:xfrm>
            <a:off x="2926800" y="365760"/>
            <a:ext cx="6033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YOLO Training Pipeline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3924000" y="1005840"/>
            <a:ext cx="4038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Dataset Generation &amp; Training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457200" y="1645920"/>
            <a:ext cx="5486040" cy="38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Data Collection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Automated collection in CARLA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Multiple maps &amp; weather conditions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Various traffic densities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Dataset Structure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yolo_carla_dataset_v2/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images/train/, val/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labels/train/, val/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data.yaml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6400800" y="1645920"/>
            <a:ext cx="5486040" cy="43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Training Parameters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Epochs: 100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Image size: 640×640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Batch size: 32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Optimizer: SGD with momentum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LR: 0.01 with cosine decay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Dataset Stats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Training: ~5000+ images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Validation: ~1000+ images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Balanced class distribution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6/18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TextBox 5"/>
          <p:cNvSpPr/>
          <p:nvPr/>
        </p:nvSpPr>
        <p:spPr>
          <a:xfrm>
            <a:off x="3148560" y="365760"/>
            <a:ext cx="5589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UFLD Lane Detection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3820680" y="1005840"/>
            <a:ext cx="4245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Ultra Fast Lane Detection Model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457200" y="1645920"/>
            <a:ext cx="548604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Model Architecture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Backbone: ResNet-18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Input: 800×288 (resized)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Output: Lane points as grid classifications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Row Anchors: 56 rows in bottom 60%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Pre-trained Base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Original: TuSimple (real-world)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Fine-tuned: CARLA simulator 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6400800" y="1645920"/>
            <a:ext cx="548604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Key Configuration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img_w = 800, img_h = 288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griding_num = 100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cls_num_per_lane = 56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num_lanes = 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Coordinate Transform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scale_x = 1640/800 = 2.05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scale_y = 590/288 = 2.05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7/18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5"/>
          <p:cNvSpPr/>
          <p:nvPr/>
        </p:nvSpPr>
        <p:spPr>
          <a:xfrm>
            <a:off x="2932920" y="365760"/>
            <a:ext cx="6021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UFLD Training Pipeline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4132800" y="1005840"/>
            <a:ext cx="3620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Fine-tuning on CARLA Data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457200" y="1645920"/>
            <a:ext cx="5486040" cy="38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Data Capture Settings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Camera: 1640×590, FOV=150°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Capture interval: Every 10 frames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Auto-pilot for diverse scenarios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Dataset Format (TuSimple)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ufld_carla_dataset/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clips/0530/.../20.jpg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label_data_0530.json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list/train_gt.txt, test_gt.txt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6400800" y="1645920"/>
            <a:ext cx="5486040" cy="42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Training Config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backbone = 'resnet18'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epochs = 50, batch_size = 32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learning_rate = 4e-4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optimizer = Adam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Fine-tuning Strategy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1. Load pre-trained TuSimple weights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2. Freeze backbone (10 epochs)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3. Unfreeze, train end-to-end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4. Save best on validation acc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8/18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5"/>
          <p:cNvSpPr/>
          <p:nvPr/>
        </p:nvSpPr>
        <p:spPr>
          <a:xfrm>
            <a:off x="2994480" y="365760"/>
            <a:ext cx="5897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Traffic Light Detection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4652640" y="1005840"/>
            <a:ext cx="2581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HSV Color Analysis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457200" y="1645920"/>
            <a:ext cx="5486040" cy="41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Pipeline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1. YOLO detects traffic light bbox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2. Crop the detected region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3. Convert to HSV color space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4. Count pixels in each color range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5. Determine dominant color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Decision Logic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If traffic light &lt; 20m distance: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Green → Continue driving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b0b8c4"/>
                </a:solidFill>
                <a:latin typeface="Calibri"/>
              </a:rPr>
              <a:t>- Red/Yellow/Unknown → Full stop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6400800" y="1645920"/>
            <a:ext cx="5486040" cy="45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HSV Ranges (CARLA-tuned)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Red (hue wraps at 0/180)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H=[0-15], S=[70-255], V=[70-255]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H=[160-180], S=[70-255], V=[70-255]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Yellow/Amber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H=[16-40], S=[70-255], V=[70-255]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Green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H=[40-90], S=[70-255], V=[70-255]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11409840" y="6492240"/>
            <a:ext cx="4662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9/18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5"/>
          <p:cNvSpPr/>
          <p:nvPr/>
        </p:nvSpPr>
        <p:spPr>
          <a:xfrm>
            <a:off x="2286720" y="365760"/>
            <a:ext cx="7313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Steering and Speed Control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4878360" y="1005840"/>
            <a:ext cx="2130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Control System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457200" y="1645920"/>
            <a:ext cx="548604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Steering Calculation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lateral_offset = point.x - center_x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lane_angle = atan2(dx, dy)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steering = angle + (offset/center)×15°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Normalize to [-1, 1] via /75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6400800" y="1645920"/>
            <a:ext cx="5486040" cy="53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Speed Control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Base target: 20 km/h cap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Turn-aware Adjustment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steering &gt; 10° → 70% speed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Obstacle-based Modifier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vehicle &lt; 15m → scale by dist/15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Throttle/Brake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Stop → throttle=0, brake=1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Below target → throttle up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Above target → brake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TextBox 9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10/18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5"/>
          <p:cNvSpPr/>
          <p:nvPr/>
        </p:nvSpPr>
        <p:spPr>
          <a:xfrm>
            <a:off x="3163680" y="365760"/>
            <a:ext cx="555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Waypoint Navigation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4985640" y="1005840"/>
            <a:ext cx="1915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Path Planning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457200" y="1645920"/>
            <a:ext cx="548604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Waypoint Generation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Start from spawn point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Get waypoints with 10m spacing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Limited to 200 waypoints ahead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Waypoint Tracking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Update when distance &lt; 2.0m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Calculate angle to next waypoint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Use dot product with forward vector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6400800" y="1645920"/>
            <a:ext cx="5486040" cy="31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Spectator Camera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Follows ego vehicle from behind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Position: 8m behind, 4m above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Looks at vehicle location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Fallback Behavior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If lanes not detected → waypoints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If waypoints exhausted → regenerate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11/18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5"/>
          <p:cNvSpPr/>
          <p:nvPr/>
        </p:nvSpPr>
        <p:spPr>
          <a:xfrm>
            <a:off x="2645640" y="365760"/>
            <a:ext cx="6595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Issues Faced &amp; Solutions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1" name="TextBox 6"/>
          <p:cNvSpPr/>
          <p:nvPr/>
        </p:nvSpPr>
        <p:spPr>
          <a:xfrm>
            <a:off x="4737960" y="1005840"/>
            <a:ext cx="2410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Challenges Part 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457200" y="1463040"/>
            <a:ext cx="11429640" cy="38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1900" spc="-1" strike="noStrike">
                <a:solidFill>
                  <a:srgbClr val="009fd4"/>
                </a:solidFill>
                <a:latin typeface="Calibri"/>
              </a:rPr>
              <a:t>Challenge 1: Traffic Light Color Detection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Problem: CARLA's red lights appeared orange; green sometimes detected as red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Solution: Extended red hue range to 0-15, adjusted S/V thresholds to 70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1900" spc="-1" strike="noStrike">
                <a:solidFill>
                  <a:srgbClr val="009fd4"/>
                </a:solidFill>
                <a:latin typeface="Calibri"/>
              </a:rPr>
              <a:t>Challenge 2: Lane Detection Coordinate Mismatch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Problem: UFLD outputs at 800×288, camera is 1640×590 - lanes misaligned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Solution: Scale all lane points by 2.05× in both X and Y directions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1" lang="en-US" sz="1900" spc="-1" strike="noStrike">
                <a:solidFill>
                  <a:srgbClr val="009fd4"/>
                </a:solidFill>
                <a:latin typeface="Calibri"/>
              </a:rPr>
              <a:t>Challenge 3: GPU/CPU Fallback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Problem: CUDA errors on some systems during inference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Solution: Try-except with automatic CPU fallback for lane detector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12/18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TextBox 5"/>
          <p:cNvSpPr/>
          <p:nvPr/>
        </p:nvSpPr>
        <p:spPr>
          <a:xfrm>
            <a:off x="2645640" y="365760"/>
            <a:ext cx="6595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Issues Faced &amp; Solutions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4737960" y="1005840"/>
            <a:ext cx="2410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Challenges Part 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457200" y="1463040"/>
            <a:ext cx="11429640" cy="44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000" spc="-1" strike="noStrike">
                <a:solidFill>
                  <a:srgbClr val="009fd4"/>
                </a:solidFill>
                <a:latin typeface="Calibri"/>
              </a:rPr>
              <a:t>Challenge 4: Lane Flickering at Intersections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Problem: Multiple lanes detected at intersections, center line unstable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Solution: Lane filtering with MAX_LANE_ANGLE=40°, MAX_ANGLE_DIFF=25°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600" spc="-1" strike="noStrike">
                <a:solidFill>
                  <a:srgbClr val="b0b8c4"/>
                </a:solidFill>
                <a:latin typeface="Calibri"/>
              </a:rPr>
              <a:t>           </a:t>
            </a:r>
            <a:r>
              <a:rPr b="0" lang="en-US" sz="1600" spc="-1" strike="noStrike">
                <a:solidFill>
                  <a:srgbClr val="b0b8c4"/>
                </a:solidFill>
                <a:latin typeface="Calibri"/>
              </a:rPr>
              <a:t>Score-based lane pair selection with width constraints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000" spc="-1" strike="noStrike">
                <a:solidFill>
                  <a:srgbClr val="009fd4"/>
                </a:solidFill>
                <a:latin typeface="Calibri"/>
              </a:rPr>
              <a:t>Challenge 5: Steering Oscillation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Problem: Lane steering caused zigzag driving, over-correction at small angles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Solution: Threshold-based steering source: |angle| ≤ 5° → lane, else → waypoint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000" spc="-1" strike="noStrike">
                <a:solidFill>
                  <a:srgbClr val="009fd4"/>
                </a:solidFill>
                <a:latin typeface="Calibri"/>
              </a:rPr>
              <a:t>Challenge 6: Synchronization Issues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Problem: Simulation running faster than perception processing, frame drops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Solution: Synchronous mode with fixed_delta_seconds = 0.3, manual tick control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13/18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5"/>
          <p:cNvSpPr/>
          <p:nvPr/>
        </p:nvSpPr>
        <p:spPr>
          <a:xfrm>
            <a:off x="3800880" y="365760"/>
            <a:ext cx="4285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 &amp; Demo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4529880" y="1005840"/>
            <a:ext cx="2826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System Performance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457200" y="1645920"/>
            <a:ext cx="5486040" cy="26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Capabilities Demonstrated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✅ </a:t>
            </a: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Autonomous waypoint navigation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✅ </a:t>
            </a: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Lane following with center tracking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✅ </a:t>
            </a: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Vehicle detection &amp; distance estimation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✅ </a:t>
            </a: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Pedestrian detection with emergency stop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✅ </a:t>
            </a: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Traffic light color recognition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✅ </a:t>
            </a:r>
            <a:r>
              <a:rPr b="0" lang="en-US" sz="1800" spc="-1" strike="noStrike">
                <a:solidFill>
                  <a:srgbClr val="00c853"/>
                </a:solidFill>
                <a:latin typeface="Calibri"/>
              </a:rPr>
              <a:t>Dynamic traffic (30+ vehicles, 10+ peds)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159" name="Table 8"/>
          <p:cNvGraphicFramePr/>
          <p:nvPr/>
        </p:nvGraphicFramePr>
        <p:xfrm>
          <a:off x="6400800" y="1828800"/>
          <a:ext cx="4114440" cy="25599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9fd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9fd4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Max Speed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20 km/h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Max Steering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±70°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Steering Threshold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5°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Safe Dist (Vehicle)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15m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Safe Dist (Pedestrian)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10m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Safe Dist (Traffic Light)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b0b8c4"/>
                          </a:solidFill>
                          <a:latin typeface="Calibri"/>
                        </a:rPr>
                        <a:t>20m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d3a4a"/>
                    </a:solidFill>
                  </a:tcPr>
                </a:tc>
              </a:tr>
            </a:tbl>
          </a:graphicData>
        </a:graphic>
      </p:graphicFrame>
      <p:sp>
        <p:nvSpPr>
          <p:cNvPr id="160" name="TextBox 9"/>
          <p:cNvSpPr/>
          <p:nvPr/>
        </p:nvSpPr>
        <p:spPr>
          <a:xfrm>
            <a:off x="2118960" y="5486400"/>
            <a:ext cx="76485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9fd4"/>
                </a:solidFill>
                <a:latin typeface="Consolas"/>
              </a:rPr>
              <a:t>Command: python step5_full_system_v4.py --vehicles 30 --pedestrians 10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14/18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5"/>
          <p:cNvSpPr/>
          <p:nvPr/>
        </p:nvSpPr>
        <p:spPr>
          <a:xfrm>
            <a:off x="3063240" y="365760"/>
            <a:ext cx="5760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Future Improvements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4307400" y="1005840"/>
            <a:ext cx="3271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Potential Enhancements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457200" y="1645920"/>
            <a:ext cx="548604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Perception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Add LiDAR for 3D detection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Sensor fusion (Camera + LiDAR)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BEVFormer for bird's eye view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Planning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A* or RRT path planning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Dynamic re-routing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Multi-lane driving &amp; lane changes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6400800" y="1645920"/>
            <a:ext cx="548604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Control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PID controller tuning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Model Predictive Control (MPC)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RL for end-to-end driving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Robustness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Weather handling (rain, fog)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Night driving with headlights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More diverse training 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0" name="TextBox 9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15/18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TextBox 5"/>
          <p:cNvSpPr/>
          <p:nvPr/>
        </p:nvSpPr>
        <p:spPr>
          <a:xfrm>
            <a:off x="4452840" y="365760"/>
            <a:ext cx="2980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Conclusion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5236920" y="1005840"/>
            <a:ext cx="1412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Summary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457200" y="1645920"/>
            <a:ext cx="548604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What We Built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Custom YOLO11 for CARLA objects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Fine-tuned UFLD for lane detection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HSV traffic light color recognition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Lane-following navigation with fallback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Real-time decision &amp; vehicle control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6400800" y="1645920"/>
            <a:ext cx="548604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Key Learnings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Domain adaptation is crucial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HSV tuning is environment-specific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Coordinate transforms matter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Synchronous mode essential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Technologies Mastered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CARLA API, YOLO, UFLD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OpenCV, PyTorch, Real-time systems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16/18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Rectangle 2"/>
          <p:cNvSpPr/>
          <p:nvPr/>
        </p:nvSpPr>
        <p:spPr>
          <a:xfrm>
            <a:off x="457200" y="1371600"/>
            <a:ext cx="1828440" cy="50400"/>
          </a:xfrm>
          <a:prstGeom prst="rect">
            <a:avLst/>
          </a:prstGeom>
          <a:solidFill>
            <a:srgbClr val="009f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Right Triangle 3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Rectangle 4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TextBox 5"/>
          <p:cNvSpPr/>
          <p:nvPr/>
        </p:nvSpPr>
        <p:spPr>
          <a:xfrm>
            <a:off x="4410360" y="365760"/>
            <a:ext cx="3066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References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5202000" y="1005840"/>
            <a:ext cx="1482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9fd4"/>
                </a:solidFill>
                <a:latin typeface="Calibri"/>
              </a:rPr>
              <a:t>Resources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6" name="TextBox 7"/>
          <p:cNvSpPr/>
          <p:nvPr/>
        </p:nvSpPr>
        <p:spPr>
          <a:xfrm>
            <a:off x="457200" y="1645920"/>
            <a:ext cx="11429640" cy="31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Frameworks &amp; Tools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CARLA Simulator: https://carla.org/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Ultralytics YOLO: https://docs.ultralytics.com/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Ultra Fast Lane Detection: https://github.com/cfzd/Ultra-Fast-Lane-Detection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buNone/>
            </a:pPr>
            <a:r>
              <a:rPr b="1" lang="en-US" sz="2200" spc="-1" strike="noStrike">
                <a:solidFill>
                  <a:srgbClr val="009fd4"/>
                </a:solidFill>
                <a:latin typeface="Calibri"/>
              </a:rPr>
              <a:t>Papers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YOLO: 'You Only Look Once: Unified, Real-Time Object Detection'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  •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UFLD: 'Ultra Fast Structure-aware Deep Lane Detection'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17/18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1a232e"/>
              </a:gs>
              <a:gs pos="100000">
                <a:srgbClr val="2d3a4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9" name="Right Triangle 2"/>
          <p:cNvSpPr/>
          <p:nvPr/>
        </p:nvSpPr>
        <p:spPr>
          <a:xfrm rot="5400000">
            <a:off x="10820520" y="0"/>
            <a:ext cx="1371240" cy="1371240"/>
          </a:xfrm>
          <a:prstGeom prst="rtTriangle">
            <a:avLst/>
          </a:prstGeom>
          <a:solidFill>
            <a:srgbClr val="2ec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Rectangle 3"/>
          <p:cNvSpPr/>
          <p:nvPr/>
        </p:nvSpPr>
        <p:spPr>
          <a:xfrm>
            <a:off x="0" y="6756480"/>
            <a:ext cx="2742840" cy="10116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TextBox 4"/>
          <p:cNvSpPr/>
          <p:nvPr/>
        </p:nvSpPr>
        <p:spPr>
          <a:xfrm>
            <a:off x="457200" y="2286000"/>
            <a:ext cx="11429640" cy="13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Thank You!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01"/>
              </a:spcBef>
              <a:buNone/>
            </a:pPr>
            <a:r>
              <a:rPr b="0" lang="en-US" sz="2400" spc="-1" strike="noStrike">
                <a:solidFill>
                  <a:srgbClr val="009fd4"/>
                </a:solidFill>
                <a:latin typeface="Calibri"/>
              </a:rPr>
              <a:t>Questions?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11369520" y="6492240"/>
            <a:ext cx="546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0b8c4"/>
                </a:solidFill>
                <a:latin typeface="Calibri"/>
              </a:rPr>
              <a:t>18/18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2025-12-16T23:23:12Z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